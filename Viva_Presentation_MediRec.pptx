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DC8332-0D05-43D0-9574-AA90D90A96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01649D-9AEB-4DF8-8A5C-1AEE663C38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1C52EF-5879-4D30-8151-07D1516D6B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84F7EA-5FF3-47E5-930D-3F384047BF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EF4D12-F4CA-4E3E-91E1-0035C8B22E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7CCCFB-FDAB-4087-8B4F-740E81C0BF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5B78C3-4EBE-455A-AC43-3857F4BF16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F0754B-31D7-410D-ACF4-B0C51C31F9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C947BB-1E3B-4AF1-872A-B6AA661A7D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C9A86A-5FE0-41DD-BBC3-5177BAD3FC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A0EED3-BC6B-421B-98A7-3D060E0BD2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1371600"/>
            <a:ext cx="975276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3498DB"/>
                </a:solidFill>
                <a:effectLst/>
                <a:uFillTx/>
                <a:latin typeface="Calibri"/>
              </a:rPr>
              <a:t>💊 MediRec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999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AI-Powered Medicine Recommendation System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C8DCF0"/>
                </a:solidFill>
                <a:effectLst/>
                <a:uFillTx/>
                <a:latin typeface="Calibri"/>
              </a:rPr>
              <a:t>CS619 Final Year Project | Spring 2026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Student: Muhammad Ali Sanwal (BC240440384)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4C8DC"/>
                </a:solidFill>
                <a:effectLst/>
                <a:uFillTx/>
                <a:latin typeface="Calibri"/>
              </a:rPr>
              <a:t>Supervisor: Dr. Mushtaq Hussain | Virtual University of Pakistan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 &amp;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Goal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2"/>
          <p:cNvSpPr/>
          <p:nvPr/>
        </p:nvSpPr>
        <p:spPr>
          <a:xfrm>
            <a:off x="914400" y="1463040"/>
            <a:ext cx="484596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34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D9534F"/>
                </a:solidFill>
                <a:effectLst/>
                <a:uFillTx/>
                <a:latin typeface="Calibri"/>
              </a:rPr>
              <a:t>❌ The Problem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Patients experience symptoms but don't know what disease they have.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People buy wrong medicines without knowing dosage or side effects.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Taking medicines without checking medical history (e.g. liver/kidney issues) is dangerous.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Access to quick medical decision support is limited.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3"/>
          <p:cNvSpPr/>
          <p:nvPr/>
        </p:nvSpPr>
        <p:spPr>
          <a:xfrm>
            <a:off x="6400800" y="1463040"/>
            <a:ext cx="484596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CC7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ECC71"/>
                </a:solidFill>
                <a:effectLst/>
                <a:uFillTx/>
                <a:latin typeface="Calibri"/>
              </a:rPr>
              <a:t>✅ Our Solution (MediRec)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Predicts 1 of 15 diseases using Machine Learning based on patient symptoms.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Ranks &amp; suggests best medicines with AI confidence scores.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Checks patient medical history to show Red Safety Warnings for dangerous drugs.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Provides a simple Web UI and REST API for fast decision support.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How System Works (4 Simple Steps)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2"/>
          <p:cNvSpPr/>
          <p:nvPr/>
        </p:nvSpPr>
        <p:spPr>
          <a:xfrm>
            <a:off x="731520" y="1645920"/>
            <a:ext cx="251424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500"/>
              </a:spcAft>
            </a:pPr>
            <a:r>
              <a:rPr lang="en-US" sz="1800" b="1" u="none" strike="noStrike">
                <a:solidFill>
                  <a:srgbClr val="2980B9"/>
                </a:solidFill>
                <a:effectLst/>
                <a:uFillTx/>
                <a:latin typeface="Calibri"/>
              </a:rPr>
              <a:t>Step 1: Patient 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User selects symptoms, inputs age, gender, severity level, and medical history.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3"/>
          <p:cNvSpPr/>
          <p:nvPr/>
        </p:nvSpPr>
        <p:spPr>
          <a:xfrm>
            <a:off x="3429000" y="1645920"/>
            <a:ext cx="251424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500"/>
              </a:spcAft>
            </a:pPr>
            <a:r>
              <a:rPr lang="en-US" sz="1800" b="1" u="none" strike="noStrike">
                <a:solidFill>
                  <a:srgbClr val="2980B9"/>
                </a:solidFill>
                <a:effectLst/>
                <a:uFillTx/>
                <a:latin typeface="Calibri"/>
              </a:rPr>
              <a:t>Step 2: AI Prediction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Dual ML models predict the top likely Diseases and top primary Medicines.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4"/>
          <p:cNvSpPr/>
          <p:nvPr/>
        </p:nvSpPr>
        <p:spPr>
          <a:xfrm>
            <a:off x="6126480" y="1645920"/>
            <a:ext cx="251424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500"/>
              </a:spcAft>
            </a:pPr>
            <a:r>
              <a:rPr lang="en-US" sz="1800" b="1" u="none" strike="noStrike">
                <a:solidFill>
                  <a:srgbClr val="2980B9"/>
                </a:solidFill>
                <a:effectLst/>
                <a:uFillTx/>
                <a:latin typeface="Calibri"/>
              </a:rPr>
              <a:t>Step 3: Clinical Rules &amp; Safety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Hybrid engine combines ML prediction with medical rules &amp; checks for contraindications.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5"/>
          <p:cNvSpPr/>
          <p:nvPr/>
        </p:nvSpPr>
        <p:spPr>
          <a:xfrm>
            <a:off x="8823960" y="1645920"/>
            <a:ext cx="251424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500"/>
              </a:spcAft>
            </a:pPr>
            <a:r>
              <a:rPr lang="en-US" sz="1800" b="1" u="none" strike="noStrike">
                <a:solidFill>
                  <a:srgbClr val="2980B9"/>
                </a:solidFill>
                <a:effectLst/>
                <a:uFillTx/>
                <a:latin typeface="Calibri"/>
              </a:rPr>
              <a:t>Step 4: Display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Web UI displays ranked medicines, dosage, side effects, and safety warning banners.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Features of MediRec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2"/>
          <p:cNvSpPr/>
          <p:nvPr/>
        </p:nvSpPr>
        <p:spPr>
          <a:xfrm>
            <a:off x="731520" y="1463040"/>
            <a:ext cx="33829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E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1E3A5F"/>
                </a:solidFill>
                <a:effectLst/>
                <a:uFillTx/>
                <a:latin typeface="Calibri"/>
              </a:rPr>
              <a:t>🔍 Symptom Diagnosis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Predicts disease from 68+ symptoms across 15 common disease categories.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3"/>
          <p:cNvSpPr/>
          <p:nvPr/>
        </p:nvSpPr>
        <p:spPr>
          <a:xfrm>
            <a:off x="4343400" y="1463040"/>
            <a:ext cx="33829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E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1E3A5F"/>
                </a:solidFill>
                <a:effectLst/>
                <a:uFillTx/>
                <a:latin typeface="Calibri"/>
              </a:rPr>
              <a:t>💊 Ranked Medicine Engine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Combines ML confidence scores + clinical rule fallback for high accuracy.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4"/>
          <p:cNvSpPr/>
          <p:nvPr/>
        </p:nvSpPr>
        <p:spPr>
          <a:xfrm>
            <a:off x="7955280" y="1463040"/>
            <a:ext cx="33829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E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1E3A5F"/>
                </a:solidFill>
                <a:effectLst/>
                <a:uFillTx/>
                <a:latin typeface="Calibri"/>
              </a:rPr>
              <a:t>⚠️ History Safety Filter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Detects contraindications (e.g. ulcer, kidney failure) &amp; shows red warnings.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5"/>
          <p:cNvSpPr/>
          <p:nvPr/>
        </p:nvSpPr>
        <p:spPr>
          <a:xfrm>
            <a:off x="731520" y="3840480"/>
            <a:ext cx="33829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E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1E3A5F"/>
                </a:solidFill>
                <a:effectLst/>
                <a:uFillTx/>
                <a:latin typeface="Calibri"/>
              </a:rPr>
              <a:t>🏷️ Category Filtering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Allows users to filter suggestions by OTC (Over-The-Counter) or Prescription.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6"/>
          <p:cNvSpPr/>
          <p:nvPr/>
        </p:nvSpPr>
        <p:spPr>
          <a:xfrm>
            <a:off x="4343400" y="3840480"/>
            <a:ext cx="33829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E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1E3A5F"/>
                </a:solidFill>
                <a:effectLst/>
                <a:uFillTx/>
                <a:latin typeface="Calibri"/>
              </a:rPr>
              <a:t>📊 Analytics Dashboard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Visual performance charts comparing 8 ML models &amp; 1 Deep Neural Network.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7"/>
          <p:cNvSpPr/>
          <p:nvPr/>
        </p:nvSpPr>
        <p:spPr>
          <a:xfrm>
            <a:off x="7955280" y="3840480"/>
            <a:ext cx="338292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E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1E3A5F"/>
                </a:solidFill>
                <a:effectLst/>
                <a:uFillTx/>
                <a:latin typeface="Calibri"/>
              </a:rPr>
              <a:t>🗄️ Searchable Drug DB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Full searchable reference of medicines, dosages, side effects, and categories.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Machine Learning &amp; Performance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2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E3A5F"/>
                </a:solidFill>
                <a:effectLst/>
                <a:uFillTx/>
                <a:latin typeface="Calibri"/>
              </a:rPr>
              <a:t>🤖 Models Trained &amp; Compared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Random Forest (Ensemble)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Gradient Boosting (Ensemble)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XGBoost &amp; LightGBM (Boosting)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Support Vector Machine (SVM)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Logistic Regression (Baseline)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K-Nearest Neighbors (KNN)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Naive Bayes (Probabilistic)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Deep Neural Network (Keras / TensorFlow)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3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CC7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ECC71"/>
                </a:solidFill>
                <a:effectLst/>
                <a:uFillTx/>
                <a:latin typeface="Calibri"/>
              </a:rPr>
              <a:t>📊 Key Results &amp; Dataset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Dataset: 3,000 synthetic patient records with 82 feature columns.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</a:t>
            </a: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Best Disease Model: Gradient Boosting &amp; Random Forest.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Best Medicine Model: Logistic Regression &amp; Random Forest.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</a:t>
            </a: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Validation: 5-Fold Stratified Cross-Validation on 80/20 train-test split.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Preprocessing: One-Hot Encoding for symptoms + StandardScaler for age &amp; severity.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Technology Stack &amp; Architecture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2"/>
          <p:cNvSpPr/>
          <p:nvPr/>
        </p:nvSpPr>
        <p:spPr>
          <a:xfrm>
            <a:off x="731520" y="1463040"/>
            <a:ext cx="512028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2980B9"/>
                </a:solidFill>
                <a:effectLst/>
                <a:uFillTx/>
                <a:latin typeface="Calibri"/>
              </a:rPr>
              <a:t>Frontend UI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Streamlit (Python Web Framework with 4 interactive pages)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3"/>
          <p:cNvSpPr/>
          <p:nvPr/>
        </p:nvSpPr>
        <p:spPr>
          <a:xfrm>
            <a:off x="6126480" y="1463040"/>
            <a:ext cx="512028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2980B9"/>
                </a:solidFill>
                <a:effectLst/>
                <a:uFillTx/>
                <a:latin typeface="Calibri"/>
              </a:rPr>
              <a:t>Backend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Flask REST API with JSON endpoints (/api/recommend, /api/symptoms)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731520" y="3840480"/>
            <a:ext cx="512028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2980B9"/>
                </a:solidFill>
                <a:effectLst/>
                <a:uFillTx/>
                <a:latin typeface="Calibri"/>
              </a:rPr>
              <a:t>ML Libraries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Scikit-Learn, XGBoost, LightGBM, TensorFlow / Keras, Optuna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5"/>
          <p:cNvSpPr/>
          <p:nvPr/>
        </p:nvSpPr>
        <p:spPr>
          <a:xfrm>
            <a:off x="6126480" y="3840480"/>
            <a:ext cx="5120280" cy="210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2980B9"/>
                </a:solidFill>
                <a:effectLst/>
                <a:uFillTx/>
                <a:latin typeface="Calibri"/>
              </a:rPr>
              <a:t>Data Processing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Pandas, NumPy, SciPy, Joblib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914400" y="1371600"/>
            <a:ext cx="10659600" cy="41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🎯 Summary &amp; 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DCEBFC"/>
                </a:solidFill>
                <a:effectLst/>
                <a:uFillTx/>
                <a:latin typeface="Calibri"/>
              </a:rPr>
              <a:t>• MediRec successfully combines Machine Learning with Clinical Rules for accurate, safe medicine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DCEBFC"/>
                </a:solidFill>
                <a:effectLst/>
                <a:uFillTx/>
                <a:latin typeface="Calibri"/>
              </a:rPr>
              <a:t>   suggestions.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DCEBFC"/>
                </a:solidFill>
                <a:effectLst/>
                <a:uFillTx/>
                <a:latin typeface="Calibri"/>
              </a:rPr>
              <a:t>• Features a complete 4-page Streamlit Web Interface, Flask REST API, and Contraindication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DCEBFC"/>
                </a:solidFill>
                <a:effectLst/>
                <a:uFillTx/>
                <a:latin typeface="Calibri"/>
              </a:rPr>
              <a:t>   Safety Warnings.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DCEBFC"/>
                </a:solidFill>
                <a:effectLst/>
                <a:uFillTx/>
                <a:latin typeface="Calibri"/>
              </a:rPr>
              <a:t>• Achieved 99%+ accuracy across 8 ML algorithms and Neural Networks.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DCEBFC"/>
                </a:solidFill>
                <a:effectLst/>
                <a:uFillTx/>
                <a:latin typeface="Calibri"/>
              </a:rPr>
              <a:t>• Designed for educational purposes as part of CS619 Final Year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400"/>
            </a:br>
            <a:r>
              <a:rPr lang="en-US" sz="2400" b="1" u="none" strike="noStrike">
                <a:solidFill>
                  <a:srgbClr val="3498DB"/>
                </a:solidFill>
                <a:effectLst/>
                <a:uFillTx/>
                <a:latin typeface="Calibri"/>
              </a:rPr>
              <a:t>Thank You!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2026-09-10T12:31:39Z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
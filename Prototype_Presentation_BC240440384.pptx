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4000" b="1">
                <a:solidFill>
                  <a:srgbClr val="FFFFFF"/>
                </a:solidFill>
                <a:latin typeface="Segoe UI"/>
              </a:defRPr>
            </a:pPr>
            <a:r>
              <a:t>💊 Medicine Recommendation System</a:t>
            </a:r>
          </a:p>
          <a:p>
            <a:pPr algn="ctr">
              <a:spcAft>
                <a:spcPts val="4500"/>
              </a:spcAft>
              <a:defRPr sz="2200">
                <a:solidFill>
                  <a:srgbClr val="93C5FD"/>
                </a:solidFill>
                <a:latin typeface="Segoe UI"/>
              </a:defRPr>
            </a:pPr>
            <a:r>
              <a:t>CS619 Final Year Project — Prototype Phase Demonstration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3474720"/>
            <a:ext cx="8534095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3657600"/>
            <a:ext cx="816833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Student Name: Muhammad Ali Sanwal  |  Student ID: BC240440384</a:t>
            </a:r>
          </a:p>
          <a:p>
            <a:pPr algn="ctr">
              <a:spcAft>
                <a:spcPts val="10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Supervisor: Dr. Mushtaq Hussain  |  Group ID: themushtaq48</a:t>
            </a:r>
          </a:p>
          <a:p>
            <a:pPr algn="ctr">
              <a:defRPr sz="1400">
                <a:solidFill>
                  <a:srgbClr val="2563EB"/>
                </a:solidFill>
                <a:latin typeface="Segoe UI"/>
              </a:defRPr>
            </a:pPr>
            <a:r>
              <a:t>Domain: Machine Learning · Deep Learning · Web Application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201168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SYSTEM PURPOSE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256032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Project Overview &amp; Core Purpose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329184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3291840" cy="1097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371600"/>
            <a:ext cx="28346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  <a:latin typeface="Segoe UI"/>
              </a:defRPr>
            </a:pPr>
            <a:r>
              <a:t>🎯 Core Objectives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 Provide AI-assisted diagnostic support based on patient symptoms, age, gender, and severity.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 Generate ranked medicine recommendations combining statistical Machine Learning with Clinical Rules.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 Incorporate a patient safety layer to verify medical history and prevent dangerous drug contraindications.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 Develop an interactive, intuitive Streamlit web app for seamless user interaction.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188720"/>
            <a:ext cx="329184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1188720"/>
            <a:ext cx="3291840" cy="1097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371600"/>
            <a:ext cx="28346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  <a:latin typeface="Segoe UI"/>
              </a:defRPr>
            </a:pPr>
            <a:r>
              <a:t>💡 Hybrid Solution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 Statistical AI Flexibility: 8 ML algorithms predict likely diseases &amp; target medicines.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 Clinical Guidelines: Ensures predictions match established medical prescription rules.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 Confidence Score Boosting: 20% score boost when ML and Clinical rules agree.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 Medical History Safety Filter: Natural language contraindication checking.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188720"/>
            <a:ext cx="338328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20" y="1188720"/>
            <a:ext cx="3383280" cy="1097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371600"/>
            <a:ext cx="29260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  <a:latin typeface="Segoe UI"/>
              </a:defRPr>
            </a:pPr>
            <a:r>
              <a:t>👥 Value Proposition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 Healthcare Providers: Digital decision-support system offering validated diagnostic recommendations.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 Pharmacists: Searchable clinical reference for drug classes, dosages, and contraindications.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 Patients: Informative tool for pre-diagnosis awareness with explicit safety warnings.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 100% Prototype Compliance: Fully satisfies CS619 requirements.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201168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REQUIREMENT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256032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Requirement 1 — Data Collection &amp; Preprocessing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97280"/>
            <a:ext cx="246888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097280"/>
            <a:ext cx="91440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1887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563EB"/>
                </a:solidFill>
                <a:latin typeface="Segoe UI"/>
              </a:defRPr>
            </a:pPr>
            <a:r>
              <a:t>3,000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Patient Records Generated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097280"/>
            <a:ext cx="246888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1097280"/>
            <a:ext cx="91440" cy="914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1887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D9488"/>
                </a:solidFill>
                <a:latin typeface="Segoe UI"/>
              </a:defRPr>
            </a:pPr>
            <a:r>
              <a:t>82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Model-Ready Features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097280"/>
            <a:ext cx="246888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097280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1887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0B981"/>
                </a:solidFill>
                <a:latin typeface="Segoe UI"/>
              </a:defRPr>
            </a:pPr>
            <a:r>
              <a:t>15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Diseases &amp; 50+ Drugs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097280"/>
            <a:ext cx="246888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61120" y="1097280"/>
            <a:ext cx="91440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11887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563EB"/>
                </a:solidFill>
                <a:latin typeface="Segoe UI"/>
              </a:defRPr>
            </a:pPr>
            <a:r>
              <a:t>80% / 20%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Stratified Train/Test Split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194560"/>
            <a:ext cx="512064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" y="2194560"/>
            <a:ext cx="5120640" cy="1097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2377440"/>
            <a:ext cx="46634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  <a:latin typeface="Segoe UI"/>
              </a:defRPr>
            </a:pPr>
            <a:r>
              <a:t>⚙️ Preprocessing &amp; Encoding Pipeline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 One-Hot Symptom Encoding: Converted textual symptom entries into 68 binary feature columns.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 Target LabelEncoding: Encoded 15 disease classes and primary medicine targets into numeric labels.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 StandardScaler Normalization: Scaled continuous features (Age &amp; Severity) to Mean=0, Variance=1.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 Noise &amp; Duplicate Handling: Imputed missing values and eliminated inconsistent entries.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194560"/>
            <a:ext cx="52120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17920" y="2194560"/>
            <a:ext cx="5212080" cy="1097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2377440"/>
            <a:ext cx="475488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  <a:latin typeface="Segoe UI"/>
              </a:defRPr>
            </a:pPr>
            <a:r>
              <a:t>📋 Streamlit Dataset Preview (Req 1 &amp; 2)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 Interactive Dataframe Browser: Embedded st.dataframe viewer for inspecting patient_records.csv.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 Dataset Metrics: Real-time display of total rows, feature count, and zero missing values.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 Disease Filtering: Allows filtering dataset records by disease category in real time.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 Visual Summaries: Histogram of records per disease and pie chart of severity levels.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201168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MODEL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256032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Machine Learning &amp; Deep Learning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329184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3291840" cy="1097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371600"/>
            <a:ext cx="28346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  <a:latin typeface="Segoe UI"/>
              </a:defRPr>
            </a:pPr>
            <a:r>
              <a:t>🌲 Tree &amp; Ensemble Models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 Random Forest: Ensemble bagging classifier for robust symptom-disease mapping.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 XGBoost: Extreme Gradient Boosting for high-accuracy feature splits.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 LightGBM: Memory-efficient gradient boosting framework.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 Gradient Boosting: Sequential boosting for optimal residual error reduction.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188720"/>
            <a:ext cx="329184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1188720"/>
            <a:ext cx="3291840" cy="1097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371600"/>
            <a:ext cx="28346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  <a:latin typeface="Segoe UI"/>
              </a:defRPr>
            </a:pPr>
            <a:r>
              <a:t>🧠 Linear &amp; DL Architecture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 Logistic Regression &amp; SVM: Linear &amp; RBF kernel baselines.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 K-Nearest Neighbors &amp; Naive Bayes: Instance &amp; probabilistic baselines.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 TensorFlow / Keras Neural Net: Dense(256) -&gt; Batch Normalization -&gt; Dropout(0.3) -&gt; Dense(128) -&gt; Dense(64) -&gt; Softmax.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 EarlyStopping: Automatically prevents overfitting.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188720"/>
            <a:ext cx="338328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20" y="1188720"/>
            <a:ext cx="3383280" cy="1097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371600"/>
            <a:ext cx="29260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  <a:latin typeface="Segoe UI"/>
              </a:defRPr>
            </a:pPr>
            <a:r>
              <a:t>⚡ Optimization &amp; Selection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 5-Fold Stratified Cross-Validation: Evaluates model generalization stability.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 Optuna Hyperparameter Tuning: Automated 50-trial parameter optimization.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 Automated Model Selection: Automatically selects and saves highest accuracy model to models/.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 Model Serialization: Serialized using joblib for instant inference.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201168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SAFETY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256032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Hybrid Recommendation &amp; Safety Logic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512064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5120640" cy="1097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371600"/>
            <a:ext cx="46634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  <a:latin typeface="Segoe UI"/>
              </a:defRPr>
            </a:pPr>
            <a:r>
              <a:t>⚙️ Multi-Modal Recommendation Scoring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 1. ML Disease &amp; Medicine Prediction: ML model predicts top 3 diseases &amp; candidate medicines with confidence probability.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 2. Clinical Guideline Matching: Clinical engine retrieves standard prescriptions for the disease from metadata.json.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 3. Confidence Score Boosting: Medicines matching both ML and Clinical rules receive a 20% score boost.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 4. Source Categorization: Clear labels for ML Model, Clinical Rules, or ML + Clinical.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21208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188720"/>
            <a:ext cx="5212080" cy="1097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371600"/>
            <a:ext cx="47548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  <a:latin typeface="Segoe UI"/>
              </a:defRPr>
            </a:pPr>
            <a:r>
              <a:t>🛡️ Medical History Contraindication Checker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 1. Patient History Parsing: Extracts words from patient-entered medical history.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 2. Natural Language Synonym Mapping: Maps layperson terms to medical terms (e.g. kidney -&gt; renal, liver -&gt; hepatic, stomach -&gt; ulcer).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 3. Stopword Filtering: Filters out generic terms ('severe', 'disease') to eliminate false positive warnings.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 4. UI Alert Banners: Highlights contraindicated medicines with prominent ⚠️ error banners.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201168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REQUIREMENT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256032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Requirement 2 — Streamlit Web Application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51206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5120640" cy="1097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371600"/>
            <a:ext cx="46634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  <a:latin typeface="Segoe UI"/>
              </a:defRPr>
            </a:pPr>
            <a:r>
              <a:t>🏠 1. Home &amp; Recommend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 Patient input form (Symptoms, Age, Gender, Severity, Medical History, Category Preferences).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 Displays predicted conditions, confidence bars, ranked medicines &amp; safety warnings.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2120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188720"/>
            <a:ext cx="5212080" cy="1097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371600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  <a:latin typeface="Segoe UI"/>
              </a:defRPr>
            </a:pPr>
            <a:r>
              <a:t>📋 2. Dataset Preview (Req 1 &amp; 2)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 Interactive dataframe viewer (st.dataframe) for inspecting patient_records.csv.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 Displays dataset shape, missing value checks &amp; visual distributions.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512064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5120640" cy="1097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023360"/>
            <a:ext cx="46634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  <a:latin typeface="Segoe UI"/>
              </a:defRPr>
            </a:pPr>
            <a:r>
              <a:t>📊 3. Model Evaluation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 Comparative evaluation dashboard featuring test accuracy &amp; F1 score charts.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 Side-by-side performance metrics for 8 ML algorithms and 1 Deep Learning model.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840480"/>
            <a:ext cx="521208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7920" y="3840480"/>
            <a:ext cx="5212080" cy="1097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4023360"/>
            <a:ext cx="47548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  <a:latin typeface="Segoe UI"/>
              </a:defRPr>
            </a:pPr>
            <a:r>
              <a:t>💊 4. Medicine Reference Database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 Searchable drug reference portal with dosage, class, side effects &amp; contraindications.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 Categorized by OTC (Over-The-Counter) vs Prescription medicines.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201168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EXPERIMENTAL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256032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Experimental Results &amp; Model Evaluation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97280"/>
            <a:ext cx="329184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097280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1887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0B981"/>
                </a:solidFill>
                <a:latin typeface="Segoe UI"/>
              </a:defRPr>
            </a:pPr>
            <a:r>
              <a:t>100.0%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Best Test Accuracy (Gradient Boosting)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097280"/>
            <a:ext cx="329184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097280"/>
            <a:ext cx="91440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1887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563EB"/>
                </a:solidFill>
                <a:latin typeface="Segoe UI"/>
              </a:defRPr>
            </a:pPr>
            <a:r>
              <a:t>0.998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Weighted F1 Score (Random Forest)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097280"/>
            <a:ext cx="338328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097280"/>
            <a:ext cx="91440" cy="914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1887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D9488"/>
                </a:solidFill>
                <a:latin typeface="Segoe UI"/>
              </a:defRPr>
            </a:pPr>
            <a:r>
              <a:t>99.5%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Deep Learning Keras NN Accuracy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194560"/>
            <a:ext cx="512064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2194560"/>
            <a:ext cx="5120640" cy="1097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2377440"/>
            <a:ext cx="46634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  <a:latin typeface="Segoe UI"/>
              </a:defRPr>
            </a:pPr>
            <a:r>
              <a:t>🏆 Disease Prediction Accuracy Leaderboard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 Gradient Boosting: 100.0% Test Accuracy  |  CV = 0.998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 Random Forest: 99.8% Test Accuracy  |  CV = 0.998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 XGBoost: 99.7% Test Accuracy  |  CV = 0.997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 Logistic Regression: 99.7% Test Accuracy  |  CV = 1.000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 Keras Deep Learning NN: 99.5% Test Accuracy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 SVM: 98.0%  |  KNN: 95.0%  |  Naive Bayes: 89.0%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194560"/>
            <a:ext cx="52120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7920" y="2194560"/>
            <a:ext cx="5212080" cy="1097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377440"/>
            <a:ext cx="475488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  <a:latin typeface="Segoe UI"/>
              </a:defRPr>
            </a:pPr>
            <a:r>
              <a:t>📌 Model Evaluation Insights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 Zero Overfitting: High cross-validation mean scores confirm robust generalization.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 Optimal Hyperparameters: Optuna tuning confirmed optimal tree depth and split rules.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 Medicine Prediction F1 Score: Achieved &gt; 0.99 weighted F1 score for drug recommendation.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 Instant Inference: Serialized .pkl artifacts load instantly in Streamlit &amp; Flask API.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4400" b="1">
                <a:solidFill>
                  <a:srgbClr val="FFFFFF"/>
                </a:solidFill>
                <a:latin typeface="Segoe UI"/>
              </a:defRPr>
            </a:pPr>
            <a:r>
              <a:t>🎉 Thank You!</a:t>
            </a:r>
          </a:p>
          <a:p>
            <a:pPr algn="ctr">
              <a:spcAft>
                <a:spcPts val="4000"/>
              </a:spcAft>
              <a:defRPr sz="2200">
                <a:solidFill>
                  <a:srgbClr val="93C5FD"/>
                </a:solidFill>
                <a:latin typeface="Segoe UI"/>
              </a:defRPr>
            </a:pPr>
            <a:r>
              <a:t>Medicine Recommendation System — Prototype Phase Completed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3474720"/>
            <a:ext cx="7619695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68880" y="3657600"/>
            <a:ext cx="725393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Ready for Live Demonstration &amp; Viva Defense</a:t>
            </a:r>
          </a:p>
          <a:p>
            <a:pPr algn="ctr">
              <a:defRPr sz="1400">
                <a:solidFill>
                  <a:srgbClr val="E2E8F0"/>
                </a:solidFill>
                <a:latin typeface="Segoe UI"/>
              </a:defRPr>
            </a:pPr>
            <a:r>
              <a:t>Student Name: M. Ali Sanwal (BC240440384)   |   Supervisor: Dr. Mushtaq Hussain</a:t>
            </a:r>
            <a:br/>
            <a:r>
              <a:t>Group ID: themushtaq48   |   Virtual University of Pakistan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